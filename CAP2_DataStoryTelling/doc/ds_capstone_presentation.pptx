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7" r:id="rId20"/>
    <p:sldId id="278" r:id="rId21"/>
    <p:sldId id="279" r:id="rId22"/>
    <p:sldId id="280" r:id="rId23"/>
    <p:sldId id="282" r:id="rId24"/>
    <p:sldId id="283" r:id="rId25"/>
    <p:sldId id="284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5" d="100"/>
          <a:sy n="155" d="100"/>
        </p:scale>
        <p:origin x="196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2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1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87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22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86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024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05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72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4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65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05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1035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25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36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13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40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8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48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CAPSTONE 2: Data storytelling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Longevity vs Aggressive Skincare</a:t>
            </a:r>
          </a:p>
          <a:p>
            <a:r>
              <a:rPr lang="en-US" dirty="0"/>
              <a:t>By </a:t>
            </a:r>
            <a:r>
              <a:rPr dirty="0"/>
              <a:t>Irina Kim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779B-D6F6-43F2-829B-460DDDDAA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07D49-1E90-4596-8301-224014A53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Consumers rate both categories similarly</a:t>
            </a:r>
          </a:p>
          <a:p>
            <a:r>
              <a:rPr lang="en-US" dirty="0"/>
              <a:t>But 'loves' heavily favor barrier-support products</a:t>
            </a:r>
          </a:p>
          <a:p>
            <a:r>
              <a:rPr lang="en-US" dirty="0"/>
              <a:t>Mid-price products dominate engagement</a:t>
            </a:r>
          </a:p>
          <a:p>
            <a:r>
              <a:rPr lang="en-US" dirty="0"/>
              <a:t>Implication: trust &amp; consistency &gt; intensity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25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What drives consumer preference in skincare?</a:t>
            </a:r>
          </a:p>
          <a:p>
            <a:r>
              <a:rPr lang="en-US" dirty="0"/>
              <a:t>Do higher ratings translate to loyalty?</a:t>
            </a:r>
          </a:p>
          <a:p>
            <a:r>
              <a:rPr lang="en-US" dirty="0"/>
              <a:t>Where should brands invest?</a:t>
            </a:r>
          </a:p>
          <a:p>
            <a:r>
              <a:rPr dirty="0"/>
              <a:t>Do consumers prefer aggressive correction or barrier support products?</a:t>
            </a:r>
            <a:endParaRPr lang="en-US" dirty="0"/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skincare and aesthetic industry is undergoing a paradigm shift. Consumers are moving away from "Aggressive Correction"—treatments like high-percentage acids and retinoids that require downtime—toward "Barrier Architecture" (Longevity). This category focuses on ingredients like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Centella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Asiatica, Ceramides, and Peptides that fortify the skin.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relationship between price, ratings, and consumer 'love' signals.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Sephora product dataset including price, ratings, and 'loves' count.</a:t>
            </a:r>
            <a:endParaRPr lang="en-US" dirty="0"/>
          </a:p>
          <a:p>
            <a:r>
              <a:rPr lang="en-US" dirty="0"/>
              <a:t>Features: price, rating, loves, category</a:t>
            </a:r>
          </a:p>
          <a:p>
            <a:r>
              <a:rPr lang="en-US" dirty="0"/>
              <a:t>Goal: understand drivers of engagement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+ segmentation + behavioral interpretation.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'Loves' used as proxy for consumer preference and loyalty.</a:t>
            </a:r>
            <a:endParaRPr lang="en-US" dirty="0"/>
          </a:p>
          <a:p>
            <a:r>
              <a:rPr lang="en-US" dirty="0"/>
              <a:t>Stronger than ratings for real behavior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Two categories: Barrier Support vs Aggressive Correction.</a:t>
            </a:r>
            <a:endParaRPr lang="en-US" dirty="0"/>
          </a:p>
          <a:p>
            <a:r>
              <a:rPr lang="en-US" dirty="0"/>
              <a:t>Different usage + psychology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1842164"/>
            <a:ext cx="7429499" cy="3541714"/>
          </a:xfrm>
        </p:spPr>
        <p:txBody>
          <a:bodyPr/>
          <a:lstStyle/>
          <a:p>
            <a:r>
              <a:rPr dirty="0"/>
              <a:t>Price vs Loves reveals clustering in mid-price range.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6CA3B6-0181-47AC-9507-1AF0F2DBB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58" y="2466108"/>
            <a:ext cx="6916189" cy="40344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Barrier support dominates across all price segments.</a:t>
            </a:r>
            <a:endParaRPr lang="en-US" dirty="0"/>
          </a:p>
          <a:p>
            <a:r>
              <a:rPr lang="en-US" dirty="0"/>
              <a:t>Consistent usage builds loyalty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price does not guarantee higher consumer love.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022" y="1783975"/>
            <a:ext cx="7429499" cy="3541714"/>
          </a:xfrm>
        </p:spPr>
        <p:txBody>
          <a:bodyPr/>
          <a:lstStyle/>
          <a:p>
            <a:r>
              <a:rPr dirty="0"/>
              <a:t>Ratings distribution shows both categories highly rated.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F2A61B-E705-4578-B0C4-79151AE01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324" y="2395049"/>
            <a:ext cx="6826828" cy="40960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Ratings are similar, but love/engagement differs.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Behavioral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Consumers trust gentle, consistent products more.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Barrier products used daily → higher engagement.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Lack of frequency or repeat purchase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predictive model for product success.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'loves' using price, rating, and category.</a:t>
            </a:r>
            <a:endParaRPr lang="en-US" dirty="0"/>
          </a:p>
          <a:p>
            <a:r>
              <a:rPr lang="en-US" dirty="0"/>
              <a:t>Regression model (e.g. </a:t>
            </a:r>
            <a:r>
              <a:rPr lang="en-US" dirty="0" err="1"/>
              <a:t>XGBoost</a:t>
            </a:r>
            <a:r>
              <a:rPr lang="en-US" dirty="0"/>
              <a:t> / Linear)</a:t>
            </a:r>
          </a:p>
          <a:p>
            <a:r>
              <a:rPr lang="en-US" dirty="0"/>
              <a:t>Features: price, rating, category</a:t>
            </a:r>
          </a:p>
          <a:p>
            <a:r>
              <a:rPr lang="en-US" dirty="0"/>
              <a:t>Target: loves (log-transformed)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(Expected)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Category (strongest driver)</a:t>
            </a:r>
          </a:p>
          <a:p>
            <a:r>
              <a:t>Price (non-linear impact)</a:t>
            </a:r>
          </a:p>
          <a:p>
            <a:r>
              <a:t>Rating (weak predictor)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Barrier product at $50 → high engagement potential</a:t>
            </a:r>
          </a:p>
          <a:p>
            <a:r>
              <a:t>Aggressive product at same price → lower expected loves</a:t>
            </a:r>
          </a:p>
          <a:p>
            <a:r>
              <a:t>Optimal pricing window: $30–$80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Prioritize barrier-support product lines</a:t>
            </a:r>
          </a:p>
          <a:p>
            <a:r>
              <a:t>Position around trust &amp; daily use</a:t>
            </a:r>
          </a:p>
          <a:p>
            <a:r>
              <a:t>Avoid over-investing in high-price aggressive SKUs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Focus on mid-range pricing</a:t>
            </a:r>
          </a:p>
          <a:p>
            <a:r>
              <a:t>Build habit-forming products</a:t>
            </a:r>
          </a:p>
          <a:p>
            <a:r>
              <a:t>Market consistency over transformation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No repeat purchase data</a:t>
            </a:r>
          </a:p>
          <a:p>
            <a:r>
              <a:t>No usage frequency</a:t>
            </a:r>
          </a:p>
          <a:p>
            <a:r>
              <a:t>Loves ≠ actual revenue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Add time-series / cohort data</a:t>
            </a:r>
          </a:p>
          <a:p>
            <a:r>
              <a:t>Train production-grade model</a:t>
            </a:r>
          </a:p>
          <a:p>
            <a:r>
              <a:t>Deploy dashboard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Consumers don’t just want results</a:t>
            </a:r>
          </a:p>
          <a:p>
            <a:r>
              <a:t>They want reliability</a:t>
            </a:r>
          </a:p>
          <a:p>
            <a:r>
              <a:t>Longevity wins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9</TotalTime>
  <Words>453</Words>
  <Application>Microsoft Office PowerPoint</Application>
  <PresentationFormat>On-screen Show (4:3)</PresentationFormat>
  <Paragraphs>87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Times New Roman</vt:lpstr>
      <vt:lpstr>Tw Cen MT</vt:lpstr>
      <vt:lpstr>Circuit</vt:lpstr>
      <vt:lpstr>CAPSTONE 2: Data storytelling</vt:lpstr>
      <vt:lpstr>Executive summary</vt:lpstr>
      <vt:lpstr>Problem</vt:lpstr>
      <vt:lpstr>Objective</vt:lpstr>
      <vt:lpstr>Dataset</vt:lpstr>
      <vt:lpstr>Approach</vt:lpstr>
      <vt:lpstr>Key Metric</vt:lpstr>
      <vt:lpstr>Market Landscape</vt:lpstr>
      <vt:lpstr>Visualization 1</vt:lpstr>
      <vt:lpstr>Insight 1</vt:lpstr>
      <vt:lpstr>Insight 2</vt:lpstr>
      <vt:lpstr>Visualization 2</vt:lpstr>
      <vt:lpstr>Insight 3</vt:lpstr>
      <vt:lpstr>Behavioral Insight</vt:lpstr>
      <vt:lpstr>Hypothesis</vt:lpstr>
      <vt:lpstr>Limitation</vt:lpstr>
      <vt:lpstr>Next Step</vt:lpstr>
      <vt:lpstr>Model</vt:lpstr>
      <vt:lpstr>Feature Importance (Expected)</vt:lpstr>
      <vt:lpstr>Prediction Insight</vt:lpstr>
      <vt:lpstr>Business Impact</vt:lpstr>
      <vt:lpstr>Strategic Recommendation</vt:lpstr>
      <vt:lpstr>Limitations</vt:lpstr>
      <vt:lpstr>Next Steps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2: Data storytelling</dc:title>
  <dc:subject/>
  <dc:creator/>
  <cp:keywords/>
  <dc:description>generated using python-pptx</dc:description>
  <cp:lastModifiedBy>Irina Kim</cp:lastModifiedBy>
  <cp:revision>4</cp:revision>
  <dcterms:created xsi:type="dcterms:W3CDTF">2013-01-27T09:14:16Z</dcterms:created>
  <dcterms:modified xsi:type="dcterms:W3CDTF">2026-04-18T19:21:43Z</dcterms:modified>
  <cp:category/>
</cp:coreProperties>
</file>